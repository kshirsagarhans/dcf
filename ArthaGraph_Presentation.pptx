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&lt;3K</c:v>
                </c:pt>
                <c:pt idx="1">
                  <c:v>3-3.5K</c:v>
                </c:pt>
                <c:pt idx="2">
                  <c:v>3.5-4K</c:v>
                </c:pt>
                <c:pt idx="3">
                  <c:v>4-4.5K</c:v>
                </c:pt>
                <c:pt idx="4">
                  <c:v>4.5-5K</c:v>
                </c:pt>
                <c:pt idx="5">
                  <c:v>5-5.5K</c:v>
                </c:pt>
                <c:pt idx="6">
                  <c:v>5.5-6K</c:v>
                </c:pt>
                <c:pt idx="7">
                  <c:v>&gt;6K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180</c:v>
                </c:pt>
                <c:pt idx="1">
                  <c:v>420</c:v>
                </c:pt>
                <c:pt idx="2">
                  <c:v>890</c:v>
                </c:pt>
                <c:pt idx="3">
                  <c:v>1680</c:v>
                </c:pt>
                <c:pt idx="4">
                  <c:v>1520</c:v>
                </c:pt>
                <c:pt idx="5">
                  <c:v>720</c:v>
                </c:pt>
                <c:pt idx="6">
                  <c:v>370</c:v>
                </c:pt>
                <c:pt idx="7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64-C843-914F-D3B705FBD3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2A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IRR %</c:v>
                </c:pt>
              </c:strCache>
            </c:strRef>
          </c:tx>
          <c:spPr>
            <a:ln w="31750" cap="flat">
              <a:solidFill>
                <a:srgbClr val="00C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96"/>
              </a:solidFill>
              <a:ln w="9525" cap="flat">
                <a:solidFill>
                  <a:srgbClr val="00C89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6×</c:v>
                </c:pt>
                <c:pt idx="1">
                  <c:v>7×</c:v>
                </c:pt>
                <c:pt idx="2">
                  <c:v>8×</c:v>
                </c:pt>
                <c:pt idx="3">
                  <c:v>9×</c:v>
                </c:pt>
                <c:pt idx="4">
                  <c:v>10×</c:v>
                </c:pt>
                <c:pt idx="5">
                  <c:v>11×</c:v>
                </c:pt>
                <c:pt idx="6">
                  <c:v>12×</c:v>
                </c:pt>
                <c:pt idx="7">
                  <c:v>14×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12.4</c:v>
                </c:pt>
                <c:pt idx="1">
                  <c:v>16.2</c:v>
                </c:pt>
                <c:pt idx="2">
                  <c:v>19.8</c:v>
                </c:pt>
                <c:pt idx="3">
                  <c:v>23.4</c:v>
                </c:pt>
                <c:pt idx="4">
                  <c:v>27.1</c:v>
                </c:pt>
                <c:pt idx="5">
                  <c:v>30.5</c:v>
                </c:pt>
                <c:pt idx="6">
                  <c:v>33.700000000000003</c:v>
                </c:pt>
                <c:pt idx="7">
                  <c:v>39.799999999999997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69B-3E43-8DC3-E18B741C08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2A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655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"Artha" (अर्थ) — Wealth · Meaning · Purpose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Suite for DCF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professional-grade, browser-based Discounted Cash Flow platform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first-class Indian market support (NSE &amp; BSE)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33756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Engine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3337560"/>
            <a:ext cx="1879092" cy="274320"/>
          </a:xfrm>
          <a:prstGeom prst="roundRect">
            <a:avLst>
              <a:gd name="adj" fmla="val 26667"/>
            </a:avLst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03120" y="3337560"/>
            <a:ext cx="1879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Heatmap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3337560"/>
            <a:ext cx="1184148" cy="274320"/>
          </a:xfrm>
          <a:prstGeom prst="roundRect">
            <a:avLst>
              <a:gd name="adj" fmla="val 26667"/>
            </a:avLst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0" y="3337560"/>
            <a:ext cx="1184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3337560"/>
            <a:ext cx="1357884" cy="274320"/>
          </a:xfrm>
          <a:prstGeom prst="roundRect">
            <a:avLst>
              <a:gd name="adj" fmla="val 26667"/>
            </a:avLst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0" y="3337560"/>
            <a:ext cx="135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Bridge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/ MOIC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03120" y="3749040"/>
            <a:ext cx="1010412" cy="274320"/>
          </a:xfrm>
          <a:prstGeom prst="roundRect">
            <a:avLst>
              <a:gd name="adj" fmla="val 26667"/>
            </a:avLst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3749040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&amp; BSE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0" y="3749040"/>
            <a:ext cx="1357884" cy="274320"/>
          </a:xfrm>
          <a:prstGeom prst="roundRect">
            <a:avLst>
              <a:gd name="adj" fmla="val 26667"/>
            </a:avLst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31920" y="3749040"/>
            <a:ext cx="135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FMP 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38160" y="822960"/>
            <a:ext cx="3840480" cy="5029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0" descr="/home/claude/img_inpu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0" y="914400"/>
            <a:ext cx="3657600" cy="475488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0" y="5852160"/>
            <a:ext cx="12161520" cy="100584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57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Hansraj N Kshirsagar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Roll No. 22108B0021  |  B.E. Electronics &amp; Computer Science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Pranita Padhye  |  Vidyalankar Institute of Technology  |  University of Mumbai  | 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Motivation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6184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0116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02996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ArthaGraph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4414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8529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Methodology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24612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246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2644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657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36758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Market Support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118872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17920" y="118872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0" y="1188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12070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160020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17920" y="160020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17920" y="16002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16184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Authentication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201168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17920" y="201168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17920" y="20116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20840" y="202996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Performance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242316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217920" y="242316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17920" y="24231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20840" y="24414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Achievements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17920" y="283464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17920" y="283464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17920" y="2834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20840" y="28529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17920" y="3246120"/>
            <a:ext cx="5486400" cy="3474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217920" y="3246120"/>
            <a:ext cx="457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17920" y="3246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20840" y="32644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Conclusion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2 / 18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ArthaGraph was built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7132320" cy="123444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54864" cy="123444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Dominates Valuation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8191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analysis in 2025 still runs on Microsoft Excel — a general-purpose spreadsheet with no enforced financial logic, no audit trail, and no interactive sensitivity tools.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7132320" cy="123444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54864" cy="123444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Markets Underserved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99923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tool provides NSE/BSE integration, India-calibrated CAPM parameters (G-Sec 7%), and ₹ Crore formatting in a single professional platform.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977640"/>
            <a:ext cx="7132320" cy="123444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3977640"/>
            <a:ext cx="54864" cy="123444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4087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Analysis Missing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41655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— the correct way to handle uncertain assumptions — is entirely absent from all consumer-grade DCF tools.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143000"/>
            <a:ext cx="3931920" cy="5029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38160" y="1554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$14.2B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8138160" y="2514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financial analytics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(2024)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3291840"/>
            <a:ext cx="338328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38160" y="3474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813816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through 2030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21040" y="4663440"/>
            <a:ext cx="338328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38160" y="4846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200,000+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138160" y="5440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chartholders globally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analyst user base)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3 / 18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critical gaps in existing DCF tools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5486400" cy="13716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54864" cy="137160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FCF Formula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consumer tools apply tax to EBITDA. Correct formula requires tax on EBIT, giving FCF = NOPAT + D&amp;A − CapEx − ΔNWC.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486400" cy="13716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54864" cy="1371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298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1298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Sensitivity Heatmap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71907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× growth rate EV grids require hours of manual Excel work and cannot update interactively.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697480"/>
            <a:ext cx="5486400" cy="13716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697480"/>
            <a:ext cx="54864" cy="13716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8072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807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Monte Carlo Simulation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22783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Point-estimate DCF models ignore assumption uncertainty. Probabilistic distributions are absent from all accessible tools.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2697480"/>
            <a:ext cx="5486400" cy="13716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72200" y="2697480"/>
            <a:ext cx="54864" cy="137160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28072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2807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Equity Bridge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22783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stop at EV. The walk to intrinsic share price — net debt, minority interest, preferred equity — is typically missing.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206240"/>
            <a:ext cx="5486400" cy="13716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4206240"/>
            <a:ext cx="54864" cy="1371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3159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315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IRR / MOIC Tool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73659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return analysis (IRR, MOIC) is entirely separate from the DCF engine in all existing platforms.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4206240"/>
            <a:ext cx="5486400" cy="13716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2200" y="4206240"/>
            <a:ext cx="54864" cy="13716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43159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4315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Market Support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73659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provides NSE/BSE data, G-Sec risk-free rate, 25.17% tax default, and ₹ Crore formatting together.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4 / 18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DCF valuation platform for Indian &amp; global markets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777240"/>
          </a:xfrm>
          <a:prstGeom prst="rect">
            <a:avLst/>
          </a:prstGeom>
          <a:solidFill>
            <a:srgbClr val="0A1F15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11338560" cy="777240"/>
          </a:xfrm>
          <a:prstGeom prst="rect">
            <a:avLst/>
          </a:prstGeom>
          <a:solidFill>
            <a:srgbClr val="0A1F1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"Artha" turns raw financials into visual, rigorous, and actionable valuation models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3657600" cy="41148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65760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Methodology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= NOPAT + D&amp;A − CapEx − ΔNWC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applied to EBIT (not EBITDA)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Growth Model terminal value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&gt; g validation enforced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057400"/>
            <a:ext cx="3657600" cy="41148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0" y="2057400"/>
            <a:ext cx="36576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60604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WACC×g sensitivity heatmap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(50k trials)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IRR solver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Tornado chart for parameter impact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83880" y="2057400"/>
            <a:ext cx="3657600" cy="41148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83880" y="2057400"/>
            <a:ext cx="3657600" cy="41148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7532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Market First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260604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(.NS) &amp; BSE (.BO) tickers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quick-pick panel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Crore formatting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12%, growth 7%, tax 25.17% defaults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5 / 18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Feature-Sliced Design</a:t>
            </a:r>
            <a:endParaRPr lang="en-US" sz="1200" dirty="0"/>
          </a:p>
        </p:txBody>
      </p:sp>
      <p:pic>
        <p:nvPicPr>
          <p:cNvPr id="5" name="Image 0" descr="/home/claude/img_ar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051560"/>
            <a:ext cx="694944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051560"/>
            <a:ext cx="4389120" cy="82296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543800" y="1051560"/>
            <a:ext cx="54864" cy="822960"/>
          </a:xfrm>
          <a:prstGeom prst="rect">
            <a:avLst/>
          </a:prstGeom>
          <a:solidFill>
            <a:srgbClr val="8FA3C0"/>
          </a:solidFill>
          <a:ln w="12700">
            <a:solidFill>
              <a:srgbClr val="8FA3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80960" y="1124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0" y="14356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5 · Vite · Tailwind · React Router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543800" y="2020824"/>
            <a:ext cx="4389120" cy="82296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543800" y="2020824"/>
            <a:ext cx="54864" cy="82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680960" y="20939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80960" y="2404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· Inputs · Sensitivity · Equity · IRR · Monte Carlo · Comps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543800" y="2990088"/>
            <a:ext cx="4389120" cy="82296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543800" y="2990088"/>
            <a:ext cx="54864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80960" y="3063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Layer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680960" y="3374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(global) + TanStack Query (server / API cache)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543800" y="3959352"/>
            <a:ext cx="4389120" cy="82296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543800" y="3959352"/>
            <a:ext cx="54864" cy="8229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680960" y="40325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680960" y="4343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fcf.ts · sensitivity.ts · irr.ts · equityBridge · Monte Carlo Worker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43800" y="4928616"/>
            <a:ext cx="4389120" cy="82296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543800" y="4928616"/>
            <a:ext cx="54864" cy="82296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680960" y="5001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680960" y="53126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+ PostgreSQL · FMP API · jsPDF · SheetJS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6 / 18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Academically correct DCF per CFA Institute &amp; Damodaran standards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6949440" cy="6217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11887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EBITDA − D&amp;A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1719072"/>
            <a:ext cx="0" cy="128016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847088"/>
            <a:ext cx="6949440" cy="6217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93852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EBIT × (1 − Tax Rate)  [if EBIT &gt; 0]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2468880"/>
            <a:ext cx="0" cy="128016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596896"/>
            <a:ext cx="6949440" cy="6217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6883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68833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NOPAT + D&amp;A − CapEx − ΔNWC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0" y="3218688"/>
            <a:ext cx="0" cy="128016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346704"/>
            <a:ext cx="6949440" cy="6217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4381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PV(FCF,t)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343814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FCF(t) / (1 + WACC)^t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11680" y="3968496"/>
            <a:ext cx="0" cy="128016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4096512"/>
            <a:ext cx="6949440" cy="6217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1879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418795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FCF_n × (1 + g) / (WACC − g)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0" y="4718304"/>
            <a:ext cx="0" cy="128016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4846320"/>
            <a:ext cx="6949440" cy="6217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937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49377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Σ PV(FCF_t) + PV(Terminal Value)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1097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 enforced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89520" y="1600200"/>
            <a:ext cx="4389120" cy="8046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589520" y="1600200"/>
            <a:ext cx="54864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26680" y="16642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on EBIT, not EBITDA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26680" y="19842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correction — tax applied to EBITDA overstates liability, understating FCF.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9520" y="2560320"/>
            <a:ext cx="4389120" cy="8046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589520" y="2560320"/>
            <a:ext cx="54864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26680" y="26243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 add-back required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26680" y="29443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 is non-cash; NOPAT deducts it, so it must be re-added to reach actual cash flow.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89520" y="3520440"/>
            <a:ext cx="4389120" cy="8046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89520" y="3520440"/>
            <a:ext cx="54864" cy="804672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26680" y="35844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&gt; g enforced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26680" y="39044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WACC ≤ g, the Gordon Growth denominator fails. ArthaGraph blocks calculation and shows an error.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89520" y="4480560"/>
            <a:ext cx="4389120" cy="8046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589520" y="4480560"/>
            <a:ext cx="54864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26680" y="4544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discount step separate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26680" y="48646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 is computed first, then separately discounted — not combined in one step.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589520" y="5440680"/>
            <a:ext cx="4389120" cy="80467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589520" y="5440680"/>
            <a:ext cx="54864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26680" y="55046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auto-WACC (India)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26680" y="58247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RFR = 7% (G-Sec) + Beta × ERP 7% = suggested WACC for NSE/BSE companies.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7 / 18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Create New Scenario Wizard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guided wizard — Company Info → Timeline → Assumptions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0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mg_scenario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" y="1143000"/>
            <a:ext cx="3511296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632" y="47091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Exchange &amp; company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4632" y="5029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NSE/BSE detection · Popular Indian stocks quick-pick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97680" y="1051560"/>
            <a:ext cx="365760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img_scenario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70832" y="1143000"/>
            <a:ext cx="3511296" cy="3474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70832" y="47091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continued: FMP fetch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370832" y="5029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ITC.NS fetched — sector FMCG, currency INR auto-set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183880" y="1051560"/>
            <a:ext cx="365760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img_scenario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7032" y="1143000"/>
            <a:ext cx="3511296" cy="34747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7032" y="47091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Indian defaults applied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257032" y="5029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12% · Growth 7% · Tax 25.17% · auto-CAPM shown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8 / 18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Financial Data Inputs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EBITDA entry with Actual / Forecast year distinction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6766560" cy="5029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mg_inpu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65836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097280"/>
            <a:ext cx="4663440" cy="86868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0" y="1097280"/>
            <a:ext cx="54864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52360" y="11704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Forecast Columns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52360" y="14813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years (2022–2024) shown with orange ACTUAL badge. Forecast years (2025–2026) shown with grey FORECAST badge.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0" y="2121408"/>
            <a:ext cx="4663440" cy="86868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0" y="2121408"/>
            <a:ext cx="54864" cy="8686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52360" y="21945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D&amp;A, CapEx, NWC rows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52360" y="250545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FCF-model inputs captured per year: EBITDA, D&amp;A, Capital Expenditures, and Change in NWC.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0" y="3145536"/>
            <a:ext cx="4663440" cy="86868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15200" y="3145536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452360" y="32186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auto-calculated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52360" y="352958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= EBITDA − D&amp;A is computed and displayed live in the read-only EBIT row.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0" y="4169664"/>
            <a:ext cx="4663440" cy="86868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315200" y="4169664"/>
            <a:ext cx="54864" cy="86868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452360" y="424281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Slider Panel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52360" y="45537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panel: WACC, Terminal Growth Rate, and Corporate Tax sliders update EV in real-time.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15200" y="5193792"/>
            <a:ext cx="4663440" cy="86868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315200" y="5193792"/>
            <a:ext cx="54864" cy="868680"/>
          </a:xfrm>
          <a:prstGeom prst="rect">
            <a:avLst/>
          </a:prstGeom>
          <a:solidFill>
            <a:srgbClr val="8FA3C0"/>
          </a:solidFill>
          <a:ln w="12700">
            <a:solidFill>
              <a:srgbClr val="8FA3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452360" y="526694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Bridge Inputs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52360" y="55778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Debt, Cash, Preferred Equity, Minority Interest, Diluted Shares, and Market Price captured in-panel.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9 / 18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Equity Bridge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 → Intrinsic Share Price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840480" cy="5029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mg_equ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88720"/>
            <a:ext cx="356616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34840" y="1097280"/>
            <a:ext cx="3566160" cy="621792"/>
          </a:xfrm>
          <a:prstGeom prst="rect">
            <a:avLst/>
          </a:prstGeom>
          <a:solidFill>
            <a:srgbClr val="0A2020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434840" y="1097280"/>
            <a:ext cx="3566160" cy="62179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434840" y="1097280"/>
            <a:ext cx="54864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1152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0" y="1444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from DCF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06440" y="1719072"/>
            <a:ext cx="0" cy="128016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34840" y="1847088"/>
            <a:ext cx="3566160" cy="6217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34840" y="1847088"/>
            <a:ext cx="54864" cy="62179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Net Debt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0" y="21945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(Gross Debt − Cash)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06440" y="2468880"/>
            <a:ext cx="0" cy="128016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434840" y="2596896"/>
            <a:ext cx="3566160" cy="6217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434840" y="2596896"/>
            <a:ext cx="54864" cy="621792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Preferred Equity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0" y="29443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Non-common claims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06440" y="3218688"/>
            <a:ext cx="0" cy="128016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434840" y="3346704"/>
            <a:ext cx="3566160" cy="6217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434840" y="3346704"/>
            <a:ext cx="54864" cy="621792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Minority Interest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0" y="36941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claims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06440" y="3968496"/>
            <a:ext cx="0" cy="128016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434840" y="4096512"/>
            <a:ext cx="3566160" cy="621792"/>
          </a:xfrm>
          <a:prstGeom prst="rect">
            <a:avLst/>
          </a:prstGeom>
          <a:solidFill>
            <a:srgbClr val="0A2020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434840" y="4096512"/>
            <a:ext cx="3566160" cy="621792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434840" y="4096512"/>
            <a:ext cx="54864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572000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Equity Value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0" y="44439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equity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806440" y="4718304"/>
            <a:ext cx="0" cy="128016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434840" y="4846320"/>
            <a:ext cx="3566160" cy="6217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434840" y="4846320"/>
            <a:ext cx="54864" cy="621792"/>
          </a:xfrm>
          <a:prstGeom prst="rect">
            <a:avLst/>
          </a:prstGeom>
          <a:solidFill>
            <a:srgbClr val="8FA3C0"/>
          </a:solidFill>
          <a:ln w="12700">
            <a:solidFill>
              <a:srgbClr val="8FA3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572000" y="4901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Diluted Shares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0" y="51937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count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806440" y="5468112"/>
            <a:ext cx="0" cy="128016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434840" y="5596128"/>
            <a:ext cx="3566160" cy="621792"/>
          </a:xfrm>
          <a:prstGeom prst="rect">
            <a:avLst/>
          </a:prstGeom>
          <a:solidFill>
            <a:srgbClr val="0A2020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434840" y="5596128"/>
            <a:ext cx="3566160" cy="62179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434840" y="5596128"/>
            <a:ext cx="54864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572000" y="5650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Intrinsic Price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572000" y="5943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share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8229600" y="1051560"/>
            <a:ext cx="3749040" cy="50292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41248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of Safety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8412480" y="1737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(Intrinsic Price − Market Price)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 Intrinsic Price × 100%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41248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undervalued (buy signal)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overvalued (sell signal)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8412480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Benjamin Graham in Security Analysis (1934)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10 / 18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Sensitivity Analysis &amp; Monte Carlo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WACC × g heatmap + probabilistic simulation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394960" cy="50292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39496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Heatmap  (D3.js)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\ 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036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0332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2628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34440" y="1920240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192024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57400" y="1920240"/>
            <a:ext cx="777240" cy="475488"/>
          </a:xfrm>
          <a:prstGeom prst="rect">
            <a:avLst/>
          </a:prstGeom>
          <a:solidFill>
            <a:srgbClr val="FE65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57400" y="192024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80360" y="1920240"/>
            <a:ext cx="777240" cy="475488"/>
          </a:xfrm>
          <a:prstGeom prst="rect">
            <a:avLst/>
          </a:prstGeom>
          <a:solidFill>
            <a:srgbClr val="E7773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80360" y="192024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₹2.9B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03320" y="1920240"/>
            <a:ext cx="777240" cy="475488"/>
          </a:xfrm>
          <a:prstGeom prst="rect">
            <a:avLst/>
          </a:prstGeom>
          <a:solidFill>
            <a:srgbClr val="D0892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03320" y="192024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₹3.2B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26280" y="1920240"/>
            <a:ext cx="777240" cy="475488"/>
          </a:xfrm>
          <a:prstGeom prst="rect">
            <a:avLst/>
          </a:prstGeom>
          <a:solidFill>
            <a:srgbClr val="B99B2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26280" y="192024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₹3.6B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34440" y="2487168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34440" y="24871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57400" y="2487168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57400" y="24871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₹1.4B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80360" y="2487168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80360" y="24871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₹1.8B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03320" y="2487168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03320" y="24871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26280" y="2487168"/>
            <a:ext cx="777240" cy="475488"/>
          </a:xfrm>
          <a:prstGeom prst="rect">
            <a:avLst/>
          </a:prstGeom>
          <a:solidFill>
            <a:srgbClr val="FE65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26280" y="24871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₹2.5B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30540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234440" y="3054096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234440" y="305409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57400" y="3054096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057400" y="305409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880360" y="3054096"/>
            <a:ext cx="777240" cy="475488"/>
          </a:xfrm>
          <a:prstGeom prst="rect">
            <a:avLst/>
          </a:prstGeom>
          <a:solidFill>
            <a:srgbClr val="00C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880360" y="305409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₹0.7B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703320" y="3054096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703320" y="305409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₹1.1B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26280" y="3054096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26280" y="305409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₹1.4B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8640" y="36210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234440" y="3621024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234440" y="362102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₹-1.1B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057400" y="3621024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057400" y="362102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₹-0.7B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880360" y="3621024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880360" y="362102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₹-0.4B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703320" y="3621024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703320" y="362102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₹0B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526280" y="3621024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26280" y="362102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₹0.4B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48640" y="4187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234440" y="4187952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234440" y="41879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₹-2.2B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057400" y="4187952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057400" y="41879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₹-1.8B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880360" y="4187952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880360" y="41879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₹-1.4B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703320" y="4187952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703320" y="41879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₹-1.1B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526280" y="4187952"/>
            <a:ext cx="777240" cy="475488"/>
          </a:xfrm>
          <a:prstGeom prst="rect">
            <a:avLst/>
          </a:prstGeom>
          <a:solidFill>
            <a:srgbClr val="FF64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526280" y="41879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₹-0.7B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02920" y="4800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high EV  ·  Red = low EV  ·  Bordered cell = active scenario (WACC 12%, g 3%)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02920" y="5120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cell to update active scenario instantly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035040" y="1051560"/>
            <a:ext cx="5989320" cy="50292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035040" y="1051560"/>
            <a:ext cx="59893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126480" y="1051560"/>
            <a:ext cx="5806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 (Web Worker)</a:t>
            </a:r>
            <a:endParaRPr lang="en-US" sz="1200" dirty="0"/>
          </a:p>
        </p:txBody>
      </p:sp>
      <p:graphicFrame>
        <p:nvGraphicFramePr>
          <p:cNvPr id="74" name="Chart 0"/>
          <p:cNvGraphicFramePr/>
          <p:nvPr/>
        </p:nvGraphicFramePr>
        <p:xfrm>
          <a:off x="6126480" y="1508760"/>
          <a:ext cx="5760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5" name="Shape 72"/>
          <p:cNvSpPr/>
          <p:nvPr/>
        </p:nvSpPr>
        <p:spPr>
          <a:xfrm>
            <a:off x="6126480" y="4343400"/>
            <a:ext cx="18288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621792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100" dirty="0"/>
          </a:p>
        </p:txBody>
      </p:sp>
      <p:sp>
        <p:nvSpPr>
          <p:cNvPr id="77" name="Text 74"/>
          <p:cNvSpPr/>
          <p:nvPr/>
        </p:nvSpPr>
        <p:spPr>
          <a:xfrm>
            <a:off x="6217920" y="4800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₹3,280 Cr</a:t>
            </a:r>
            <a:endParaRPr lang="en-US" sz="1600" dirty="0"/>
          </a:p>
        </p:txBody>
      </p:sp>
      <p:sp>
        <p:nvSpPr>
          <p:cNvPr id="78" name="Text 75"/>
          <p:cNvSpPr/>
          <p:nvPr/>
        </p:nvSpPr>
        <p:spPr>
          <a:xfrm>
            <a:off x="6217920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8046720" y="4343400"/>
            <a:ext cx="18288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813816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8138160" y="4800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₹4,490 Cr</a:t>
            </a:r>
            <a:endParaRPr lang="en-US" sz="1600" dirty="0"/>
          </a:p>
        </p:txBody>
      </p:sp>
      <p:sp>
        <p:nvSpPr>
          <p:cNvPr id="82" name="Text 79"/>
          <p:cNvSpPr/>
          <p:nvPr/>
        </p:nvSpPr>
        <p:spPr>
          <a:xfrm>
            <a:off x="8138160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9966960" y="4343400"/>
            <a:ext cx="18288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1005840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</a:t>
            </a:r>
            <a:endParaRPr lang="en-US" sz="1100" dirty="0"/>
          </a:p>
        </p:txBody>
      </p:sp>
      <p:sp>
        <p:nvSpPr>
          <p:cNvPr id="85" name="Text 82"/>
          <p:cNvSpPr/>
          <p:nvPr/>
        </p:nvSpPr>
        <p:spPr>
          <a:xfrm>
            <a:off x="10058400" y="4800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₹5,760 Cr</a:t>
            </a:r>
            <a:endParaRPr lang="en-US" sz="1600" dirty="0"/>
          </a:p>
        </p:txBody>
      </p:sp>
      <p:sp>
        <p:nvSpPr>
          <p:cNvPr id="86" name="Text 83"/>
          <p:cNvSpPr/>
          <p:nvPr/>
        </p:nvSpPr>
        <p:spPr>
          <a:xfrm>
            <a:off x="10058400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850" dirty="0"/>
          </a:p>
        </p:txBody>
      </p:sp>
      <p:sp>
        <p:nvSpPr>
          <p:cNvPr id="87" name="Text 84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11 / 18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IRR / MOIC Calculator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return analysis with Newton-Raphson IRR solver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029200" cy="50292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IRR Algorithm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CF₀ = −Equity Invested   (negative: cash out)
CFₜ = Periodic FCF(t)    for t = 1 to n−1
CF_n = Final FCF + Exit Equity Value
</a:t>
            </a: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[ CF_t / (1 + IRR)^t ] = 0
</a:t>
            </a: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IRR_{k+1} = IRR_k − NPV(IRR_k) / NPV′(IRR_k)
</a:t>
            </a: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Converges when |NPV| &lt; 10⁻⁶  (1000 max iterations)
</a:t>
            </a: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MOIC = Σ(positive CFs) / |Equity Invested|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1051560"/>
            <a:ext cx="2926080" cy="50292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0644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691640"/>
            <a:ext cx="27432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17556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0" y="17556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2441448"/>
            <a:ext cx="27432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250545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250545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3191256"/>
            <a:ext cx="27432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0" y="32552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at Exit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32552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₹7,200 Cr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3941064"/>
            <a:ext cx="27432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40050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at Exit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40050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₹5,040 Cr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60720" y="4690872"/>
            <a:ext cx="27432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0" y="4754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EV/EBITDA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4754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5440680"/>
            <a:ext cx="27432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0" y="55046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EV/EBITDA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55046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11.5×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78240" y="1051560"/>
            <a:ext cx="3246120" cy="50292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869680" y="11887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vs exit multiple</a:t>
            </a:r>
            <a:endParaRPr lang="en-US" sz="11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8823960" y="1645920"/>
          <a:ext cx="3154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 28"/>
          <p:cNvSpPr/>
          <p:nvPr/>
        </p:nvSpPr>
        <p:spPr>
          <a:xfrm>
            <a:off x="8869680" y="5029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lines show 15%, 20%, 25% IRR hurdle rates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12 / 18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Market Support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NSE &amp; BSE integration — the platform's defining differentiator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120640" cy="5029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mg_scenario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493776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097280"/>
            <a:ext cx="2926080" cy="141732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0" y="1097280"/>
            <a:ext cx="54864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61304" y="1188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· BSE Ticker Support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61304" y="157276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TICKER.NS for NSE, TICKER.BO for BSE. Auto-detects Indian exchange and applies correct defaults.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823960" y="1097280"/>
            <a:ext cx="2926080" cy="141732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23960" y="1097280"/>
            <a:ext cx="54864" cy="1417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970264" y="1188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CAPM Parameters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970264" y="157276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Rate: 7% (10-yr G-Sec) · ERP: 7% (India) · Suggested WACC = 7 + β × 7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15000" y="2697480"/>
            <a:ext cx="2926080" cy="141732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15000" y="2697480"/>
            <a:ext cx="54864" cy="141732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61304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Tax 25.17%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61304" y="317296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base rate 22% + surcharge = 25.17% effective rate. Pre-populated automatically for Indian companies.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823960" y="2697480"/>
            <a:ext cx="2926080" cy="141732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823960" y="2697480"/>
            <a:ext cx="54864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970264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Crore Formatting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970264" y="317296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Indian Rupee Crore notation (₹1,23,456 Cr) with toggle to international (millions/billions).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715000" y="4297680"/>
            <a:ext cx="2926080" cy="141732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715000" y="4297680"/>
            <a:ext cx="54864" cy="1417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861304" y="4389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Quick-Pick Panel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861304" y="477316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selection for all 50 Nifty 50 constituents including ITC, SBIN, BAJFINANCE, BHARTIARTL, WIPRO, MARUTI.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823960" y="4297680"/>
            <a:ext cx="2926080" cy="141732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823960" y="429768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970264" y="4389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FMP NSE/BSE Integration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970264" y="477316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FMP API data for .NS and .BO tickers: beta, market cap, EBITDA, D&amp;A, income statement history.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13 / 18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full-stack web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743200" cy="512064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74320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45720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" y="199339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rendering, lazy tabs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45720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" y="309067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type safety across codebase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45720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" y="41879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HMR, ESM-native bundling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84632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4846320"/>
            <a:ext cx="45720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" y="4937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" y="528523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+ CSS token design system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1005840"/>
            <a:ext cx="2743200" cy="512064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37560" y="1005840"/>
            <a:ext cx="27432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2900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Data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9000" y="155448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29000" y="1554480"/>
            <a:ext cx="4572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38728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38728" y="199339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(scenarios, auth, theme)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265176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429000" y="2651760"/>
            <a:ext cx="4572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38728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v5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38728" y="309067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cache, optimistic updates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29000" y="374904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29000" y="3749040"/>
            <a:ext cx="4572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38728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38728" y="41879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navigation, protected routes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29000" y="484632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429000" y="4846320"/>
            <a:ext cx="4572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538728" y="4937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38728" y="528523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Off-thread Monte Carlo execution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1005840"/>
            <a:ext cx="2743200" cy="512064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63640" y="1005840"/>
            <a:ext cx="2743200" cy="4114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5508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55080" y="155448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55080" y="1554480"/>
            <a:ext cx="45720" cy="9144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64808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64808" y="199339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Waterfall, donut, histogram, IRR line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55080" y="265176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355080" y="2651760"/>
            <a:ext cx="45720" cy="9144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64808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v7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64808" y="309067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sensitivity heatmap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55080" y="374904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355080" y="3749040"/>
            <a:ext cx="45720" cy="9144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64808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+ html2canvas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64808" y="41879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PDF generation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355080" y="484632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355080" y="4846320"/>
            <a:ext cx="45720" cy="9144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64808" y="4937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SheetJS (xlsx)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64808" y="528523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Excel workbook export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189720" y="1005840"/>
            <a:ext cx="2743200" cy="512064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189720" y="1005840"/>
            <a:ext cx="2743200" cy="41148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28116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APIs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9281160" y="155448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281160" y="1554480"/>
            <a:ext cx="45720" cy="91440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390888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390888" y="199339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+ Google OAuth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281160" y="265176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281160" y="2651760"/>
            <a:ext cx="45720" cy="91440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390888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9390888" y="309067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isolation at DB layer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281160" y="374904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281160" y="3749040"/>
            <a:ext cx="45720" cy="91440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390888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FMP API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390888" y="41879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prices, financials, peer multiples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281160" y="4846320"/>
            <a:ext cx="25603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9281160" y="4846320"/>
            <a:ext cx="45720" cy="91440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390888" y="4937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390888" y="528523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for all calc modules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14 / 18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Vitest unit tests + performance benchmarks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7132320" cy="50292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Cases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7022592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with positive EBIT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39712" y="1600200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7022592" cy="3931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3911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34440" y="2039112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with negative EBIT (no tax)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39712" y="2039112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478024"/>
            <a:ext cx="7022592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478024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34440" y="2478024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&lt; 0 throws error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39712" y="2478024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7022592" cy="3931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916936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34440" y="2916936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≤ g throws Gordon constraint error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39712" y="2916936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355848"/>
            <a:ext cx="7022592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355848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34440" y="3355848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grid monotonicity check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39712" y="3355848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7022592" cy="3931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79476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34440" y="3794760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bridge: EV − Debt = Equity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39712" y="3794760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233672"/>
            <a:ext cx="7022592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234440" y="4233672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equity value (not clamped to 0)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39712" y="4233672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672584"/>
            <a:ext cx="7022592" cy="393192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672584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TC-08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234440" y="4672584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known-solution [−100, 0, 0, 121] = 10%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39712" y="4672584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5111496"/>
            <a:ext cx="7022592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5111496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TC-09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234440" y="5111496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ticker .NS → INR currency, 12% WACC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39712" y="5111496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26680" y="1051560"/>
            <a:ext cx="4297680" cy="502920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8638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818120" y="1645920"/>
            <a:ext cx="4114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909560" y="16459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 ms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052560" y="164592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DCF calculation (10 yrs)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818120" y="2194560"/>
            <a:ext cx="4114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909560" y="21945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10 ms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052560" y="219456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 sensitivity grid (49 DCFs)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818120" y="2743200"/>
            <a:ext cx="4114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909560" y="27432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2 ms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052560" y="27432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Newton-Raphson solver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818120" y="3291840"/>
            <a:ext cx="4114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909560" y="32918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2 sec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052560" y="329184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5,000 trials (Worker)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818120" y="3840480"/>
            <a:ext cx="4114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909560" y="38404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18 sec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052560" y="38404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50,000 trials (Worker)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818120" y="4389120"/>
            <a:ext cx="4114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909560" y="4389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4–8 sec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052560" y="438912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(8 pages)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818120" y="4937760"/>
            <a:ext cx="4114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909560" y="49377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92%+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9052560" y="493776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accuracy vs reference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818120" y="5486400"/>
            <a:ext cx="4114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909560" y="54864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4.7/5.0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9052560" y="54864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average satisfaction score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15 / 18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Achievements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ArthaGraph delivers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3657600" cy="219456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6576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FCF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= NOPAT + D&amp;A − CapEx − ΔNWC with tax on EBIT. Validated against CFA Institute methodology and 12 analytical test cases.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3657600" cy="219456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0" y="1097280"/>
            <a:ext cx="36576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348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83480" y="1280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D3 Heatmap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192024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 WACC×g sensitivity grid rated 'most useful feature' by 67% of UAT participants. Real-time click-to-update.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83880" y="1097280"/>
            <a:ext cx="3657600" cy="219456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83880" y="1097280"/>
            <a:ext cx="36576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69680" y="1280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(50k trials)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192024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 simulation produces P10/P25/P50/P75/P90 enterprise value distribution at interactive speed.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474720"/>
            <a:ext cx="3657600" cy="219456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474720"/>
            <a:ext cx="36576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IRR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IRR convergence to 10⁻⁶ tolerance verified against known analytical solutions. MOIC auto-computed.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3474720"/>
            <a:ext cx="3657600" cy="219456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97680" y="3474720"/>
            <a:ext cx="36576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348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98348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Market First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34840" y="42976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NSE/BSE integration, Nifty 50 quick-pick, ₹ Crore formatting, and India CAPM defaults rated 4.8/5.0 in UAT.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83880" y="3474720"/>
            <a:ext cx="3657600" cy="219456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83880" y="3474720"/>
            <a:ext cx="36576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210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86968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Security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42976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Database-layer Row Level Security ensures cross-user data isolation. 192-bit random share tokens for read-only links.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16 / 18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beyond v1.0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38560" cy="109728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88720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+ History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1627632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 co-editing · Version history with field-level diff · INR Crore/Lakh toggle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11338560" cy="109728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1188720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Assumption Advisor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37360" y="2907792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integration to review WACC/growth assumptions against sector benchmarks. DDM and RIM for financial companies.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11338560" cy="109728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657600"/>
            <a:ext cx="1188720" cy="1097280"/>
          </a:xfrm>
          <a:prstGeom prst="rect">
            <a:avLst/>
          </a:prstGeom>
          <a:solidFill>
            <a:srgbClr val="FF5C3A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&amp; MCA Integration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37360" y="4187952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import of audited financials from SEBI XBRL filings and MCA portal for Indian listed companies.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4937760"/>
            <a:ext cx="11338560" cy="109728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4937760"/>
            <a:ext cx="1188720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5440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 Public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37360" y="5468112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sharing same engine and Supabase backend. Programmatic API for Python/Excel integration.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6263640"/>
            <a:ext cx="11338560" cy="411480"/>
          </a:xfrm>
          <a:prstGeom prst="rect">
            <a:avLst/>
          </a:prstGeom>
          <a:solidFill>
            <a:srgbClr val="1A0A04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6263640"/>
            <a:ext cx="11338560" cy="411480"/>
          </a:xfrm>
          <a:prstGeom prst="rect">
            <a:avLst/>
          </a:prstGeom>
          <a:solidFill>
            <a:srgbClr val="1A0A04"/>
          </a:solidFill>
          <a:ln w="12700">
            <a:solidFill>
              <a:srgbClr val="FF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FMP free-tier rate limits · No offline mode · Monte Carlo latency at 50k trials · IRR assumes simple equity injection model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17 / 18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</a:t>
            </a: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delivers what no accessible financial tool currently provides: a rigorous, browser-based DCF platform implementing the correct EBIT-based FCF formula, interactive sensitivity analysis, probabilistic Monte Carlo simulation, Newton-Raphson IRR computation, and first-class Indian market support — all in a single cohesive application.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286000" cy="118872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286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/ 5.0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satisfaction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finance professionals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920240"/>
            <a:ext cx="2286000" cy="118872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97480" y="1920240"/>
            <a:ext cx="2286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8892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8892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calculation 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analytical reference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0" y="1920240"/>
            <a:ext cx="2286000" cy="1188720"/>
          </a:xfrm>
          <a:prstGeom prst="rect">
            <a:avLst/>
          </a:prstGeom>
          <a:solidFill>
            <a:srgbClr val="1C2A3A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20640" y="1920240"/>
            <a:ext cx="2286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1208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DCF recalculation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thread, synchronous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3337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703320"/>
            <a:ext cx="7132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Damodaran, A. (2024). Investment Valuation, 4th ed. Wiley.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Gordon, M.J. &amp; Shapiro, E. (1956). Capital Equipment Analysis. Management Science, 3(1), 102–110.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CFA Institute (2024). CFA Program Curriculum Level II: Equity Valuation.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Modigliani, F. &amp; Miller, M.H. (1958). The Cost of Capital, Corporation Finance and the Theory of Investment. AER, 48(3).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Sharpe, W.F. (1964). Capital Asset Prices: Theory of Market Equilibrium. Journal of Finance, 19(3).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Graham, B. (1949). The Intelligent Investor. Harper &amp; Brothers.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Boyle, P. (1977). Options: A Monte Carlo Approach. Journal of Financial Economics, 4(3).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Supabase Docs (2024): Auth + Row Level Security. supabase.com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Financial Modeling Prep API (2024). site.financialmodelingprep.com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Reserve Bank of India (2024). G-Sec Benchmark Rates. rbi.org.in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Income Tax Department of India (2024). Corporate Tax Rates AY 2024-25. incometaxindia.gov.in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89520" y="914400"/>
            <a:ext cx="4389120" cy="5577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89520" y="914400"/>
            <a:ext cx="438912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26680" y="1600200"/>
            <a:ext cx="4114800" cy="0"/>
          </a:xfrm>
          <a:prstGeom prst="line">
            <a:avLst/>
          </a:prstGeom>
          <a:noFill/>
          <a:ln w="381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0" y="1645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81160" y="1645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ArthaGraph: Valuation Suite for DCF Analysis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26680" y="2103120"/>
            <a:ext cx="4114800" cy="0"/>
          </a:xfrm>
          <a:prstGeom prst="line">
            <a:avLst/>
          </a:prstGeom>
          <a:noFill/>
          <a:ln w="381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0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81160" y="2148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Hansraj N Kshirsagar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26680" y="2606040"/>
            <a:ext cx="4114800" cy="0"/>
          </a:xfrm>
          <a:prstGeom prst="line">
            <a:avLst/>
          </a:prstGeom>
          <a:noFill/>
          <a:ln w="381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0" y="2651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281160" y="2651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22108B0021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26680" y="3108960"/>
            <a:ext cx="4114800" cy="0"/>
          </a:xfrm>
          <a:prstGeom prst="line">
            <a:avLst/>
          </a:prstGeom>
          <a:noFill/>
          <a:ln w="381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72400" y="3154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81160" y="3154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Computer Science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26680" y="3611880"/>
            <a:ext cx="4114800" cy="0"/>
          </a:xfrm>
          <a:prstGeom prst="line">
            <a:avLst/>
          </a:prstGeom>
          <a:noFill/>
          <a:ln w="381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0" y="3657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2811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Pranita Padhye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26680" y="4114800"/>
            <a:ext cx="4114800" cy="0"/>
          </a:xfrm>
          <a:prstGeom prst="line">
            <a:avLst/>
          </a:prstGeom>
          <a:noFill/>
          <a:ln w="381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72400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81160" y="4160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Vidyalankar Institute of Technology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26680" y="4617720"/>
            <a:ext cx="4114800" cy="0"/>
          </a:xfrm>
          <a:prstGeom prst="line">
            <a:avLst/>
          </a:prstGeom>
          <a:noFill/>
          <a:ln w="381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772400" y="4663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81160" y="4663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Mumbai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726680" y="5120640"/>
            <a:ext cx="4114800" cy="0"/>
          </a:xfrm>
          <a:prstGeom prst="line">
            <a:avLst/>
          </a:prstGeom>
          <a:noFill/>
          <a:ln w="381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72400" y="5166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281160" y="5166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Engineering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726680" y="5623560"/>
            <a:ext cx="4114800" cy="0"/>
          </a:xfrm>
          <a:prstGeom prst="line">
            <a:avLst/>
          </a:prstGeom>
          <a:noFill/>
          <a:ln w="381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72400" y="5669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281160" y="5669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726680" y="6126480"/>
            <a:ext cx="4114800" cy="0"/>
          </a:xfrm>
          <a:prstGeom prst="line">
            <a:avLst/>
          </a:prstGeom>
          <a:noFill/>
          <a:ln w="381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772400" y="6172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281160" y="6172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github.com/kshirsagarhans/DCF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ArthaGraph — Valuation Suite for DCF Analysis   |   Slide 18 / 18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2831</Words>
  <Application>Microsoft Macintosh PowerPoint</Application>
  <PresentationFormat>Widescreen</PresentationFormat>
  <Paragraphs>462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ArthaGraph: Valuation Suite for DCF Analysis</dc:title>
  <dc:subject>PptxGenJS Presentation</dc:subject>
  <dc:creator>Hansraj N Kshirsagar</dc:creator>
  <cp:lastModifiedBy>Hansraj Kshirsagar</cp:lastModifiedBy>
  <cp:revision>1</cp:revision>
  <dcterms:created xsi:type="dcterms:W3CDTF">2026-04-20T07:38:29Z</dcterms:created>
  <dcterms:modified xsi:type="dcterms:W3CDTF">2026-04-20T07:56:14Z</dcterms:modified>
</cp:coreProperties>
</file>